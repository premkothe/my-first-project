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39339" y="874522"/>
            <a:ext cx="2096135" cy="1091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dirty="0" sz="1400" spc="6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r>
              <a:rPr dirty="0" sz="1400" spc="6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0000"/>
                </a:solidFill>
                <a:latin typeface="Times New Roman"/>
                <a:cs typeface="Times New Roman"/>
              </a:rPr>
              <a:t>Report</a:t>
            </a:r>
            <a:r>
              <a:rPr dirty="0" sz="1400" spc="7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400" spc="-25" b="1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00"/>
              </a:spcBef>
            </a:pPr>
            <a:r>
              <a:rPr dirty="0" sz="1400" spc="-30" b="1">
                <a:solidFill>
                  <a:srgbClr val="00AFEF"/>
                </a:solidFill>
                <a:latin typeface="Times New Roman"/>
                <a:cs typeface="Times New Roman"/>
              </a:rPr>
              <a:t>“Crime</a:t>
            </a:r>
            <a:r>
              <a:rPr dirty="0" sz="1400" spc="50" b="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AFEF"/>
                </a:solidFill>
                <a:latin typeface="Times New Roman"/>
                <a:cs typeface="Times New Roman"/>
              </a:rPr>
              <a:t>Reporting</a:t>
            </a:r>
            <a:r>
              <a:rPr dirty="0" sz="1400" spc="70" b="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AFEF"/>
                </a:solidFill>
                <a:latin typeface="Times New Roman"/>
                <a:cs typeface="Times New Roman"/>
              </a:rPr>
              <a:t>System”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</a:pPr>
            <a:r>
              <a:rPr dirty="0" sz="1400">
                <a:latin typeface="Arial Black"/>
                <a:cs typeface="Arial Black"/>
              </a:rPr>
              <a:t>Submited</a:t>
            </a:r>
            <a:r>
              <a:rPr dirty="0" sz="1400" spc="-10">
                <a:latin typeface="Arial Black"/>
                <a:cs typeface="Arial Black"/>
              </a:rPr>
              <a:t> </a:t>
            </a:r>
            <a:r>
              <a:rPr dirty="0" sz="1400" spc="-25">
                <a:latin typeface="Arial Black"/>
                <a:cs typeface="Arial Black"/>
              </a:rPr>
              <a:t>To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490342" y="3979290"/>
            <a:ext cx="2795270" cy="3569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6F2F9F"/>
                </a:solidFill>
                <a:latin typeface="Microsoft Himalaya"/>
                <a:cs typeface="Microsoft Himalaya"/>
              </a:rPr>
              <a:t>Rao</a:t>
            </a:r>
            <a:r>
              <a:rPr dirty="0" sz="1400" spc="-30">
                <a:solidFill>
                  <a:srgbClr val="6F2F9F"/>
                </a:solidFill>
                <a:latin typeface="Microsoft Himalaya"/>
                <a:cs typeface="Microsoft Himalaya"/>
              </a:rPr>
              <a:t> </a:t>
            </a:r>
            <a:r>
              <a:rPr dirty="0" sz="1400" spc="-10">
                <a:solidFill>
                  <a:srgbClr val="6F2F9F"/>
                </a:solidFill>
                <a:latin typeface="Microsoft Himalaya"/>
                <a:cs typeface="Microsoft Himalaya"/>
              </a:rPr>
              <a:t>Bahadur</a:t>
            </a:r>
            <a:r>
              <a:rPr dirty="0" sz="1400" spc="-30">
                <a:solidFill>
                  <a:srgbClr val="6F2F9F"/>
                </a:solidFill>
                <a:latin typeface="Microsoft Himalaya"/>
                <a:cs typeface="Microsoft Himalaya"/>
              </a:rPr>
              <a:t> </a:t>
            </a:r>
            <a:r>
              <a:rPr dirty="0" sz="1400" spc="-10">
                <a:solidFill>
                  <a:srgbClr val="6F2F9F"/>
                </a:solidFill>
                <a:latin typeface="Microsoft Himalaya"/>
                <a:cs typeface="Microsoft Himalaya"/>
              </a:rPr>
              <a:t>Narayanrao</a:t>
            </a:r>
            <a:r>
              <a:rPr dirty="0" sz="1400" spc="-25">
                <a:solidFill>
                  <a:srgbClr val="6F2F9F"/>
                </a:solidFill>
                <a:latin typeface="Microsoft Himalaya"/>
                <a:cs typeface="Microsoft Himalaya"/>
              </a:rPr>
              <a:t> </a:t>
            </a:r>
            <a:r>
              <a:rPr dirty="0" sz="1400" spc="-10">
                <a:solidFill>
                  <a:srgbClr val="6F2F9F"/>
                </a:solidFill>
                <a:latin typeface="Microsoft Himalaya"/>
                <a:cs typeface="Microsoft Himalaya"/>
              </a:rPr>
              <a:t>Borawake</a:t>
            </a:r>
            <a:r>
              <a:rPr dirty="0" sz="1400" spc="-40">
                <a:solidFill>
                  <a:srgbClr val="6F2F9F"/>
                </a:solidFill>
                <a:latin typeface="Microsoft Himalaya"/>
                <a:cs typeface="Microsoft Himalaya"/>
              </a:rPr>
              <a:t> </a:t>
            </a:r>
            <a:r>
              <a:rPr dirty="0" sz="1400" spc="-10">
                <a:solidFill>
                  <a:srgbClr val="6F2F9F"/>
                </a:solidFill>
                <a:latin typeface="Microsoft Himalaya"/>
                <a:cs typeface="Microsoft Himalaya"/>
              </a:rPr>
              <a:t>College(Autonomous)</a:t>
            </a:r>
            <a:endParaRPr sz="1400">
              <a:latin typeface="Microsoft Himalaya"/>
              <a:cs typeface="Microsoft Himalaya"/>
            </a:endParaRPr>
          </a:p>
          <a:p>
            <a:pPr marL="472440" marR="463550" indent="111125">
              <a:lnSpc>
                <a:spcPct val="200700"/>
              </a:lnSpc>
              <a:spcBef>
                <a:spcPts val="35"/>
              </a:spcBef>
            </a:pPr>
            <a:r>
              <a:rPr dirty="0" sz="1400">
                <a:latin typeface="Calibri Light"/>
                <a:cs typeface="Calibri Light"/>
              </a:rPr>
              <a:t>For</a:t>
            </a:r>
            <a:r>
              <a:rPr dirty="0" sz="1400" spc="-55">
                <a:latin typeface="Calibri Light"/>
                <a:cs typeface="Calibri Light"/>
              </a:rPr>
              <a:t> </a:t>
            </a:r>
            <a:r>
              <a:rPr dirty="0" sz="1400" spc="-10">
                <a:latin typeface="Calibri Light"/>
                <a:cs typeface="Calibri Light"/>
              </a:rPr>
              <a:t>Partial</a:t>
            </a:r>
            <a:r>
              <a:rPr dirty="0" sz="1400" spc="-55">
                <a:latin typeface="Calibri Light"/>
                <a:cs typeface="Calibri Light"/>
              </a:rPr>
              <a:t> </a:t>
            </a:r>
            <a:r>
              <a:rPr dirty="0" sz="1400" spc="-10">
                <a:latin typeface="Calibri Light"/>
                <a:cs typeface="Calibri Light"/>
              </a:rPr>
              <a:t>fulfilment</a:t>
            </a:r>
            <a:r>
              <a:rPr dirty="0" sz="1400" spc="-65">
                <a:latin typeface="Calibri Light"/>
                <a:cs typeface="Calibri Light"/>
              </a:rPr>
              <a:t> </a:t>
            </a:r>
            <a:r>
              <a:rPr dirty="0" sz="1400" spc="-25">
                <a:latin typeface="Calibri Light"/>
                <a:cs typeface="Calibri Light"/>
              </a:rPr>
              <a:t>of </a:t>
            </a:r>
            <a:r>
              <a:rPr dirty="0" sz="1400" spc="-25">
                <a:solidFill>
                  <a:srgbClr val="00AF50"/>
                </a:solidFill>
                <a:latin typeface="Calibri Light"/>
                <a:cs typeface="Calibri Light"/>
              </a:rPr>
              <a:t>TY-</a:t>
            </a:r>
            <a:r>
              <a:rPr dirty="0" sz="1400" spc="-20">
                <a:solidFill>
                  <a:srgbClr val="00AF50"/>
                </a:solidFill>
                <a:latin typeface="Calibri Light"/>
                <a:cs typeface="Calibri Light"/>
              </a:rPr>
              <a:t>B.sc(computer</a:t>
            </a:r>
            <a:r>
              <a:rPr dirty="0" sz="1400" spc="65">
                <a:solidFill>
                  <a:srgbClr val="00AF50"/>
                </a:solidFill>
                <a:latin typeface="Calibri Light"/>
                <a:cs typeface="Calibri Light"/>
              </a:rPr>
              <a:t> </a:t>
            </a:r>
            <a:r>
              <a:rPr dirty="0" sz="1400" spc="-10">
                <a:solidFill>
                  <a:srgbClr val="00AF50"/>
                </a:solidFill>
                <a:latin typeface="Calibri Light"/>
                <a:cs typeface="Calibri Light"/>
              </a:rPr>
              <a:t>science)</a:t>
            </a:r>
            <a:endParaRPr sz="140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1680"/>
              </a:spcBef>
            </a:pPr>
            <a:r>
              <a:rPr dirty="0" sz="1400" spc="-20">
                <a:latin typeface="Calibri Light"/>
                <a:cs typeface="Calibri Light"/>
              </a:rPr>
              <a:t>Submited</a:t>
            </a:r>
            <a:r>
              <a:rPr dirty="0" sz="1400">
                <a:latin typeface="Calibri Light"/>
                <a:cs typeface="Calibri Light"/>
              </a:rPr>
              <a:t> </a:t>
            </a:r>
            <a:r>
              <a:rPr dirty="0" sz="1400" spc="-25">
                <a:latin typeface="Calibri Light"/>
                <a:cs typeface="Calibri Light"/>
              </a:rPr>
              <a:t>By</a:t>
            </a:r>
            <a:endParaRPr sz="1400">
              <a:latin typeface="Calibri Light"/>
              <a:cs typeface="Calibri Light"/>
            </a:endParaRPr>
          </a:p>
          <a:p>
            <a:pPr algn="ctr" marL="387350" marR="381635">
              <a:lnSpc>
                <a:spcPct val="189300"/>
              </a:lnSpc>
              <a:spcBef>
                <a:spcPts val="35"/>
              </a:spcBef>
            </a:pPr>
            <a:r>
              <a:rPr dirty="0" sz="1400" spc="-10" b="1">
                <a:solidFill>
                  <a:srgbClr val="FF0000"/>
                </a:solidFill>
                <a:latin typeface="Times New Roman"/>
                <a:cs typeface="Times New Roman"/>
              </a:rPr>
              <a:t>Kangare </a:t>
            </a:r>
            <a:r>
              <a:rPr dirty="0" sz="1400" b="1">
                <a:solidFill>
                  <a:srgbClr val="FF0000"/>
                </a:solidFill>
                <a:latin typeface="Times New Roman"/>
                <a:cs typeface="Times New Roman"/>
              </a:rPr>
              <a:t>Aditya</a:t>
            </a:r>
            <a:r>
              <a:rPr dirty="0" sz="14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400" spc="-25" b="1">
                <a:solidFill>
                  <a:srgbClr val="FF0000"/>
                </a:solidFill>
                <a:latin typeface="Times New Roman"/>
                <a:cs typeface="Times New Roman"/>
              </a:rPr>
              <a:t>Kerubhau </a:t>
            </a:r>
            <a:r>
              <a:rPr dirty="0" sz="1400" b="1">
                <a:solidFill>
                  <a:srgbClr val="FF0000"/>
                </a:solidFill>
                <a:latin typeface="Times New Roman"/>
                <a:cs typeface="Times New Roman"/>
              </a:rPr>
              <a:t>Kothe</a:t>
            </a:r>
            <a:r>
              <a:rPr dirty="0" sz="1400" spc="6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0000"/>
                </a:solidFill>
                <a:latin typeface="Times New Roman"/>
                <a:cs typeface="Times New Roman"/>
              </a:rPr>
              <a:t>Prem</a:t>
            </a:r>
            <a:r>
              <a:rPr dirty="0" sz="1400" spc="6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0000"/>
                </a:solidFill>
                <a:latin typeface="Times New Roman"/>
                <a:cs typeface="Times New Roman"/>
              </a:rPr>
              <a:t>Shivaji </a:t>
            </a:r>
            <a:r>
              <a:rPr dirty="0" sz="1400" b="1">
                <a:latin typeface="Times New Roman"/>
                <a:cs typeface="Times New Roman"/>
              </a:rPr>
              <a:t>Guided</a:t>
            </a:r>
            <a:r>
              <a:rPr dirty="0" sz="1400" spc="11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By</a:t>
            </a:r>
            <a:r>
              <a:rPr dirty="0" sz="1400" spc="500" b="1"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4471C4"/>
                </a:solidFill>
                <a:latin typeface="Times New Roman"/>
                <a:cs typeface="Times New Roman"/>
              </a:rPr>
              <a:t>Prof.Dr.Shinde</a:t>
            </a:r>
            <a:r>
              <a:rPr dirty="0" sz="1400" spc="65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4471C4"/>
                </a:solidFill>
                <a:latin typeface="Times New Roman"/>
                <a:cs typeface="Times New Roman"/>
              </a:rPr>
              <a:t>B.S.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Academic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Year2025-</a:t>
            </a:r>
            <a:r>
              <a:rPr dirty="0" sz="1400" spc="-20">
                <a:latin typeface="Calibri"/>
                <a:cs typeface="Calibri"/>
              </a:rPr>
              <a:t>2026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3511" y="2199132"/>
            <a:ext cx="1862327" cy="16535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39214" y="2832861"/>
            <a:ext cx="4133215" cy="2329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“Education</a:t>
            </a:r>
            <a:r>
              <a:rPr dirty="0" sz="14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through</a:t>
            </a:r>
            <a:r>
              <a:rPr dirty="0" sz="14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self</a:t>
            </a:r>
            <a:r>
              <a:rPr dirty="0" sz="14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help</a:t>
            </a:r>
            <a:r>
              <a:rPr dirty="0" sz="14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dirty="0" sz="14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our</a:t>
            </a:r>
            <a:r>
              <a:rPr dirty="0" sz="14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moto”–</a:t>
            </a:r>
            <a:r>
              <a:rPr dirty="0" sz="14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Bhaurao</a:t>
            </a:r>
            <a:r>
              <a:rPr dirty="0" sz="14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Patil</a:t>
            </a:r>
            <a:endParaRPr sz="1400">
              <a:latin typeface="Calibri"/>
              <a:cs typeface="Calibri"/>
            </a:endParaRPr>
          </a:p>
          <a:p>
            <a:pPr algn="ctr" marL="610235" marR="638810" indent="-1270">
              <a:lnSpc>
                <a:spcPct val="190000"/>
              </a:lnSpc>
              <a:spcBef>
                <a:spcPts val="175"/>
              </a:spcBef>
            </a:pPr>
            <a:r>
              <a:rPr dirty="0" sz="1400" b="1">
                <a:latin typeface="Calibri"/>
                <a:cs typeface="Calibri"/>
              </a:rPr>
              <a:t>Rayat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Shikshan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Sanstha’s </a:t>
            </a:r>
            <a:r>
              <a:rPr dirty="0" sz="1400" spc="-20" b="1">
                <a:solidFill>
                  <a:srgbClr val="FF0000"/>
                </a:solidFill>
                <a:latin typeface="Times New Roman"/>
                <a:cs typeface="Times New Roman"/>
              </a:rPr>
              <a:t>R.B.Narayanrao</a:t>
            </a:r>
            <a:r>
              <a:rPr dirty="0" sz="140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0000"/>
                </a:solidFill>
                <a:latin typeface="Times New Roman"/>
                <a:cs typeface="Times New Roman"/>
              </a:rPr>
              <a:t>Borawake</a:t>
            </a:r>
            <a:r>
              <a:rPr dirty="0" sz="1400" spc="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0000"/>
                </a:solidFill>
                <a:latin typeface="Times New Roman"/>
                <a:cs typeface="Times New Roman"/>
              </a:rPr>
              <a:t>College Shrirampur,Dist.Ahilyanagar</a:t>
            </a:r>
            <a:r>
              <a:rPr dirty="0" sz="1400" spc="15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0000"/>
                </a:solidFill>
                <a:latin typeface="Times New Roman"/>
                <a:cs typeface="Times New Roman"/>
              </a:rPr>
              <a:t>413709 (Autonomous)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R="30480">
              <a:lnSpc>
                <a:spcPct val="100000"/>
              </a:lnSpc>
            </a:pPr>
            <a:r>
              <a:rPr dirty="0" sz="1400" spc="-30" b="1">
                <a:solidFill>
                  <a:srgbClr val="006FC0"/>
                </a:solidFill>
                <a:latin typeface="Times New Roman"/>
                <a:cs typeface="Times New Roman"/>
              </a:rPr>
              <a:t>CERTIFICATE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150617" y="5374513"/>
            <a:ext cx="3472815" cy="204470"/>
          </a:xfrm>
          <a:prstGeom prst="rect">
            <a:avLst/>
          </a:prstGeom>
          <a:solidFill>
            <a:srgbClr val="D2D2D2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90"/>
              </a:lnSpc>
            </a:pPr>
            <a:r>
              <a:rPr dirty="0" sz="1400">
                <a:solidFill>
                  <a:srgbClr val="528135"/>
                </a:solidFill>
                <a:latin typeface="Arial MT"/>
                <a:cs typeface="Arial MT"/>
              </a:rPr>
              <a:t>DEPARTMENT</a:t>
            </a:r>
            <a:r>
              <a:rPr dirty="0" sz="1400" spc="20">
                <a:solidFill>
                  <a:srgbClr val="528135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28135"/>
                </a:solidFill>
                <a:latin typeface="Arial MT"/>
                <a:cs typeface="Arial MT"/>
              </a:rPr>
              <a:t>OF</a:t>
            </a:r>
            <a:r>
              <a:rPr dirty="0" sz="1400" spc="15">
                <a:solidFill>
                  <a:srgbClr val="528135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28135"/>
                </a:solidFill>
                <a:latin typeface="Arial MT"/>
                <a:cs typeface="Arial MT"/>
              </a:rPr>
              <a:t>COMPUTER</a:t>
            </a:r>
            <a:r>
              <a:rPr dirty="0" sz="1400" spc="20">
                <a:solidFill>
                  <a:srgbClr val="528135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28135"/>
                </a:solidFill>
                <a:latin typeface="Arial MT"/>
                <a:cs typeface="Arial MT"/>
              </a:rPr>
              <a:t>SCIENCE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5668136"/>
            <a:ext cx="5969635" cy="861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52100"/>
              </a:lnSpc>
              <a:spcBef>
                <a:spcPts val="105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certify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B9BD4"/>
                </a:solidFill>
                <a:latin typeface="Calibri"/>
                <a:cs typeface="Calibri"/>
              </a:rPr>
              <a:t>Mr.Aditya</a:t>
            </a:r>
            <a:r>
              <a:rPr dirty="0" sz="1200" spc="-30" b="1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B9BD4"/>
                </a:solidFill>
                <a:latin typeface="Calibri"/>
                <a:cs typeface="Calibri"/>
              </a:rPr>
              <a:t>Kangare</a:t>
            </a:r>
            <a:r>
              <a:rPr dirty="0" sz="1200" spc="-35" b="1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B9BD4"/>
                </a:solidFill>
                <a:latin typeface="Calibri"/>
                <a:cs typeface="Calibri"/>
              </a:rPr>
              <a:t>&amp;</a:t>
            </a:r>
            <a:r>
              <a:rPr dirty="0" sz="1200" spc="-20" b="1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B9BD4"/>
                </a:solidFill>
                <a:latin typeface="Calibri"/>
                <a:cs typeface="Calibri"/>
              </a:rPr>
              <a:t>Mr.Prem</a:t>
            </a:r>
            <a:r>
              <a:rPr dirty="0" sz="1200" spc="-35" b="1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B9BD4"/>
                </a:solidFill>
                <a:latin typeface="Calibri"/>
                <a:cs typeface="Calibri"/>
              </a:rPr>
              <a:t>Kothe</a:t>
            </a:r>
            <a:r>
              <a:rPr dirty="0" sz="1200" spc="-45" b="1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satisfactorily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carried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31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32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according</a:t>
            </a:r>
            <a:r>
              <a:rPr dirty="0" sz="1200" spc="32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32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32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syllabus</a:t>
            </a:r>
            <a:r>
              <a:rPr dirty="0" sz="1200" spc="32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32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Rao</a:t>
            </a:r>
            <a:r>
              <a:rPr dirty="0" sz="1200" spc="32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Bahadur</a:t>
            </a:r>
            <a:r>
              <a:rPr dirty="0" sz="1200" spc="32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Narayanrao</a:t>
            </a:r>
            <a:r>
              <a:rPr dirty="0" sz="1200" spc="325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Borawake college(Autonoumous)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Shrirampur during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class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TY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UG</a:t>
            </a:r>
            <a:r>
              <a:rPr dirty="0" sz="1200" spc="254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Academic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2025-2026.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7462266"/>
            <a:ext cx="88391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Head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Dept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87034" y="7462266"/>
            <a:ext cx="884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Project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Guide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02004" y="8512352"/>
            <a:ext cx="617220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16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Internal Examinar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84570" y="8512352"/>
            <a:ext cx="617220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16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External Examinar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914400"/>
            <a:ext cx="1912620" cy="1085088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990600"/>
            <a:ext cx="1860803" cy="10104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88335" y="1395730"/>
            <a:ext cx="648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 Black"/>
                <a:cs typeface="Arial Black"/>
              </a:rPr>
              <a:t>INDEX</a:t>
            </a:r>
            <a:endParaRPr sz="1400">
              <a:latin typeface="Arial Black"/>
              <a:cs typeface="Arial Black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14704" y="3004057"/>
          <a:ext cx="6021070" cy="49536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7610"/>
                <a:gridCol w="4740275"/>
              </a:tblGrid>
              <a:tr h="307975">
                <a:tc>
                  <a:txBody>
                    <a:bodyPr/>
                    <a:lstStyle/>
                    <a:p>
                      <a:pPr marL="67945">
                        <a:lnSpc>
                          <a:spcPts val="1505"/>
                        </a:lnSpc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Sr.No.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5"/>
                        </a:lnSpc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CONTENT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67945">
                        <a:lnSpc>
                          <a:spcPts val="165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50"/>
                        </a:lnSpc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Acknowledgement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35"/>
                        </a:lnSpc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Introduction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System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35"/>
                        </a:lnSpc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Scope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System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35"/>
                        </a:lnSpc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Existing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System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35"/>
                        </a:lnSpc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Fact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Finding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Technique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67945">
                        <a:lnSpc>
                          <a:spcPts val="165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50"/>
                        </a:lnSpc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Identification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 Of</a:t>
                      </a:r>
                      <a:r>
                        <a:rPr dirty="0"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Data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35"/>
                        </a:lnSpc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Requirements</a:t>
                      </a:r>
                      <a:r>
                        <a:rPr dirty="0" sz="14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Specification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35"/>
                        </a:lnSpc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Feasibility</a:t>
                      </a:r>
                      <a:r>
                        <a:rPr dirty="0"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Study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35"/>
                        </a:lnSpc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Normalization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dirty="0" sz="1400" spc="-25"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35"/>
                        </a:lnSpc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UML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Diagram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dirty="0" sz="1400" spc="-25">
                          <a:latin typeface="Calibri"/>
                          <a:cs typeface="Calibri"/>
                        </a:rPr>
                        <a:t>11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35"/>
                        </a:lnSpc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Dictionary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dirty="0" sz="1400" spc="-25">
                          <a:latin typeface="Calibri"/>
                          <a:cs typeface="Calibri"/>
                        </a:rPr>
                        <a:t>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35"/>
                        </a:lnSpc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Reports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67945">
                        <a:lnSpc>
                          <a:spcPts val="1639"/>
                        </a:lnSpc>
                      </a:pPr>
                      <a:r>
                        <a:rPr dirty="0" sz="1400" spc="-25">
                          <a:latin typeface="Calibri"/>
                          <a:cs typeface="Calibri"/>
                        </a:rPr>
                        <a:t>13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39"/>
                        </a:lnSpc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Conclusion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67945">
                        <a:lnSpc>
                          <a:spcPts val="1635"/>
                        </a:lnSpc>
                      </a:pPr>
                      <a:r>
                        <a:rPr dirty="0" sz="1400" spc="-25">
                          <a:latin typeface="Calibri"/>
                          <a:cs typeface="Calibri"/>
                        </a:rPr>
                        <a:t>14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35"/>
                        </a:lnSpc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Biliography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69819" y="1546606"/>
            <a:ext cx="20351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6F2F9F"/>
                </a:solidFill>
                <a:latin typeface="Times New Roman"/>
                <a:cs typeface="Times New Roman"/>
              </a:rPr>
              <a:t>ACKNOWLEDGEMENT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3017646"/>
            <a:ext cx="5964555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17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The Project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Title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Crime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Reporting system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 been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completed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without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valuable </a:t>
            </a:r>
            <a:r>
              <a:rPr dirty="0" sz="1200">
                <a:latin typeface="Calibri"/>
                <a:cs typeface="Calibri"/>
              </a:rPr>
              <a:t>guidance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encouragement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Prof.Dr.Shinde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Sir.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4057015"/>
            <a:ext cx="5965190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17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extremely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thanks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Dr.B.S.Shinde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sir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Department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science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&amp;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staff </a:t>
            </a:r>
            <a:r>
              <a:rPr dirty="0" sz="1200">
                <a:latin typeface="Calibri"/>
                <a:cs typeface="Calibri"/>
              </a:rPr>
              <a:t>members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guidance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support.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5098160"/>
            <a:ext cx="5965190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17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thankful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those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extremely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helpful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indirectly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completing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work.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2004" y="6232016"/>
            <a:ext cx="58108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least,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friends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support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help.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02004" y="6992492"/>
            <a:ext cx="1184275" cy="1351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Thank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you…!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208300"/>
              </a:lnSpc>
            </a:pP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sincerely, </a:t>
            </a:r>
            <a:r>
              <a:rPr dirty="0" sz="1200">
                <a:latin typeface="Calibri"/>
                <a:cs typeface="Calibri"/>
              </a:rPr>
              <a:t>Mr.Aditya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Kangare </a:t>
            </a:r>
            <a:r>
              <a:rPr dirty="0" sz="1200">
                <a:latin typeface="Calibri"/>
                <a:cs typeface="Calibri"/>
              </a:rPr>
              <a:t>Mr.Kothe</a:t>
            </a:r>
            <a:r>
              <a:rPr dirty="0" sz="1200" spc="-20">
                <a:latin typeface="Calibri"/>
                <a:cs typeface="Calibri"/>
              </a:rPr>
              <a:t> Prem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1564894"/>
            <a:ext cx="1195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Calibri"/>
                <a:cs typeface="Calibri"/>
              </a:rPr>
              <a:t>INTRODUCTION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3156331"/>
            <a:ext cx="5970270" cy="1139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52200"/>
              </a:lnSpc>
              <a:spcBef>
                <a:spcPts val="105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Crime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designed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efficient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platform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citizens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report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crimes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online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authorities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manage,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track,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those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reports.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This </a:t>
            </a:r>
            <a:r>
              <a:rPr dirty="0" sz="1200" spc="-10">
                <a:latin typeface="Calibri"/>
                <a:cs typeface="Calibri"/>
              </a:rPr>
              <a:t>documentation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outlines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complete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structure, </a:t>
            </a:r>
            <a:r>
              <a:rPr dirty="0" sz="1200" spc="-10" i="1">
                <a:solidFill>
                  <a:srgbClr val="5B9BD4"/>
                </a:solidFill>
                <a:latin typeface="Calibri"/>
                <a:cs typeface="Calibri"/>
              </a:rPr>
              <a:t>functionality</a:t>
            </a:r>
            <a:r>
              <a:rPr dirty="0" sz="1200" spc="-10">
                <a:latin typeface="Calibri"/>
                <a:cs typeface="Calibri"/>
              </a:rPr>
              <a:t>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design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Crime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Reporting System.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13177" y="892810"/>
            <a:ext cx="13792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SCOPE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OF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SYSTEM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1991613"/>
            <a:ext cx="5971540" cy="862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25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Crime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crime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complaints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online,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status,</a:t>
            </a:r>
            <a:r>
              <a:rPr dirty="0" sz="1200" spc="-25">
                <a:latin typeface="Calibri"/>
                <a:cs typeface="Calibri"/>
              </a:rPr>
              <a:t> and </a:t>
            </a:r>
            <a:r>
              <a:rPr dirty="0" sz="1200">
                <a:latin typeface="Calibri"/>
                <a:cs typeface="Calibri"/>
              </a:rPr>
              <a:t>communicate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authorities.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administrators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police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officials,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tools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verify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progress,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maintain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crime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2810"/>
            <a:ext cx="13030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NEED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OF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SYSTEM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1982470"/>
            <a:ext cx="5967095" cy="11487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153300"/>
              </a:lnSpc>
              <a:spcBef>
                <a:spcPts val="110"/>
              </a:spcBef>
            </a:pPr>
            <a:r>
              <a:rPr dirty="0" sz="1200">
                <a:latin typeface="Calibri"/>
                <a:cs typeface="Calibri"/>
              </a:rPr>
              <a:t>Traditional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crime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reporting 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often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consuming,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inconvenient,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prone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delays.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Victims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hesitate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visit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police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stations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due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fear,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distance,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privacy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concerns.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Crime </a:t>
            </a:r>
            <a:r>
              <a:rPr dirty="0" sz="1200">
                <a:latin typeface="Calibri"/>
                <a:cs typeface="Calibri"/>
              </a:rPr>
              <a:t>Reporting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addresses</a:t>
            </a:r>
            <a:r>
              <a:rPr dirty="0" sz="1200" spc="2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2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issues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offering</a:t>
            </a:r>
            <a:r>
              <a:rPr dirty="0" sz="1200" spc="2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digital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platform</a:t>
            </a:r>
            <a:r>
              <a:rPr dirty="0" sz="1200" spc="2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2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ensures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quick </a:t>
            </a:r>
            <a:r>
              <a:rPr dirty="0" sz="1200">
                <a:latin typeface="Calibri"/>
                <a:cs typeface="Calibri"/>
              </a:rPr>
              <a:t>reporting,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accuracy,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privacy,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round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accessibility.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5422" y="2251710"/>
            <a:ext cx="47105" cy="160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8285" y="3093212"/>
            <a:ext cx="45262" cy="1117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5841" y="3093212"/>
            <a:ext cx="45262" cy="11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73554" y="892810"/>
            <a:ext cx="13398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EXISTING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SYSTEM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1988565"/>
            <a:ext cx="5969000" cy="11474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 marR="5080">
              <a:lnSpc>
                <a:spcPct val="153100"/>
              </a:lnSpc>
              <a:spcBef>
                <a:spcPts val="114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manual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crime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reporting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depends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heavily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physical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paperwork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face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face </a:t>
            </a:r>
            <a:r>
              <a:rPr dirty="0" sz="1200">
                <a:latin typeface="Calibri"/>
                <a:cs typeface="Calibri"/>
              </a:rPr>
              <a:t>communication.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Issues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long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queues,</a:t>
            </a:r>
            <a:r>
              <a:rPr dirty="0" sz="1200" spc="3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slow</a:t>
            </a:r>
            <a:r>
              <a:rPr dirty="0" sz="1200" spc="3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documentation,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loss</a:t>
            </a:r>
            <a:r>
              <a:rPr dirty="0" sz="1200" spc="3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3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reports,</a:t>
            </a:r>
            <a:r>
              <a:rPr dirty="0" sz="1200" spc="3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lack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transparency,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 difficulty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tracking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 progress.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Citizens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often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remain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uninformed about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status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complaints.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9253" y="2258567"/>
            <a:ext cx="45262" cy="1219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2133" y="2258567"/>
            <a:ext cx="45262" cy="121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79650" y="892810"/>
            <a:ext cx="14706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Calibri"/>
                <a:cs typeface="Calibri"/>
              </a:rPr>
              <a:t>PROPOSED SYSTEM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1991613"/>
            <a:ext cx="5971540" cy="141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23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proposed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Crime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Reporting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centralized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digital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platform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can </a:t>
            </a:r>
            <a:r>
              <a:rPr dirty="0" sz="1200">
                <a:latin typeface="Calibri"/>
                <a:cs typeface="Calibri"/>
              </a:rPr>
              <a:t>securely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submit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crime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reports, attach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evidence,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receive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updates. Authorities can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efficiently </a:t>
            </a:r>
            <a:r>
              <a:rPr dirty="0" sz="1200">
                <a:latin typeface="Calibri"/>
                <a:cs typeface="Calibri"/>
              </a:rPr>
              <a:t>manage</a:t>
            </a:r>
            <a:r>
              <a:rPr dirty="0" sz="1200" spc="1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complaints,</a:t>
            </a:r>
            <a:r>
              <a:rPr dirty="0" sz="1200" spc="1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verify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information,</a:t>
            </a:r>
            <a:r>
              <a:rPr dirty="0" sz="1200" spc="1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</a:t>
            </a:r>
            <a:r>
              <a:rPr dirty="0" sz="1200" spc="1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investigation</a:t>
            </a:r>
            <a:r>
              <a:rPr dirty="0" sz="1200" spc="20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status,</a:t>
            </a:r>
            <a:r>
              <a:rPr dirty="0" sz="1200" spc="1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generate</a:t>
            </a:r>
            <a:r>
              <a:rPr dirty="0" sz="1200" spc="19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analytical </a:t>
            </a:r>
            <a:r>
              <a:rPr dirty="0" sz="1200">
                <a:latin typeface="Calibri"/>
                <a:cs typeface="Calibri"/>
              </a:rPr>
              <a:t>reports.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enhances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transparency,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speeds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investigation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processes,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ensures </a:t>
            </a:r>
            <a:r>
              <a:rPr dirty="0" sz="1200">
                <a:latin typeface="Calibri"/>
                <a:cs typeface="Calibri"/>
              </a:rPr>
              <a:t>proper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documentation.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79650" y="892810"/>
            <a:ext cx="13735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SYSTEM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1983993"/>
            <a:ext cx="4786630" cy="2636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20"/>
              </a:lnSpc>
            </a:pPr>
            <a:r>
              <a:rPr dirty="0" sz="1600" b="1">
                <a:solidFill>
                  <a:srgbClr val="2D74B5"/>
                </a:solidFill>
                <a:latin typeface="Calibri"/>
                <a:cs typeface="Calibri"/>
              </a:rPr>
              <a:t>1.</a:t>
            </a:r>
            <a:r>
              <a:rPr dirty="0" sz="1600" spc="-75" b="1">
                <a:solidFill>
                  <a:srgbClr val="2D74B5"/>
                </a:solidFill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Feasibility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Study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200">
              <a:latin typeface="Calibri"/>
              <a:cs typeface="Calibri"/>
            </a:endParaRPr>
          </a:p>
          <a:p>
            <a:pPr marL="4762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Feasibility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analysis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includes:</a:t>
            </a:r>
            <a:endParaRPr sz="1200">
              <a:latin typeface="Calibri"/>
              <a:cs typeface="Calibri"/>
            </a:endParaRPr>
          </a:p>
          <a:p>
            <a:pPr marL="47625" marR="5080">
              <a:lnSpc>
                <a:spcPct val="265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Technical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Feasibility: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Ensures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required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hardware/software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exists.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Operational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Feasibility: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Checks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acceptability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usage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practicality. Economic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Feasibility: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Evaluates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cost-</a:t>
            </a:r>
            <a:r>
              <a:rPr dirty="0" sz="1200">
                <a:latin typeface="Calibri"/>
                <a:cs typeface="Calibri"/>
              </a:rPr>
              <a:t>effectiveness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budget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requirements.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Feasibility: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Assesses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completion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timeline.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5223128"/>
            <a:ext cx="2524760" cy="263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20"/>
              </a:lnSpc>
            </a:pPr>
            <a:r>
              <a:rPr dirty="0" sz="1600" b="1">
                <a:solidFill>
                  <a:srgbClr val="2D74B5"/>
                </a:solidFill>
                <a:latin typeface="Calibri"/>
                <a:cs typeface="Calibri"/>
              </a:rPr>
              <a:t>2.</a:t>
            </a:r>
            <a:r>
              <a:rPr dirty="0" sz="1600" spc="-70" b="1">
                <a:solidFill>
                  <a:srgbClr val="2D74B5"/>
                </a:solidFill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Hardware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&amp;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Software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Requirements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200">
              <a:latin typeface="Calibri"/>
              <a:cs typeface="Calibri"/>
            </a:endParaRPr>
          </a:p>
          <a:p>
            <a:pPr marL="47625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Hardware:</a:t>
            </a:r>
            <a:endParaRPr sz="1200">
              <a:latin typeface="Calibri"/>
              <a:cs typeface="Calibri"/>
            </a:endParaRPr>
          </a:p>
          <a:p>
            <a:pPr marL="47625" marR="782320">
              <a:lnSpc>
                <a:spcPct val="2650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Processor: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i3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above </a:t>
            </a:r>
            <a:r>
              <a:rPr dirty="0" sz="1200">
                <a:latin typeface="Calibri"/>
                <a:cs typeface="Calibri"/>
              </a:rPr>
              <a:t>RAM: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4GB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minimum </a:t>
            </a:r>
            <a:r>
              <a:rPr dirty="0" sz="1200">
                <a:latin typeface="Calibri"/>
                <a:cs typeface="Calibri"/>
              </a:rPr>
              <a:t>Storage: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Minimum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256GB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Calibri"/>
              <a:cs typeface="Calibri"/>
            </a:endParaRPr>
          </a:p>
          <a:p>
            <a:pPr marL="4762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Devices: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Keyboard,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Mouse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4333"/>
            <a:ext cx="5965825" cy="194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 i="1">
                <a:solidFill>
                  <a:srgbClr val="2D74B5"/>
                </a:solidFill>
                <a:latin typeface="Calibri"/>
                <a:cs typeface="Calibri"/>
              </a:rPr>
              <a:t>Software: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200">
              <a:latin typeface="Calibri"/>
              <a:cs typeface="Calibri"/>
            </a:endParaRPr>
          </a:p>
          <a:p>
            <a:pPr marL="4762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Operating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Windows/Linux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Calibri"/>
              <a:cs typeface="Calibri"/>
            </a:endParaRPr>
          </a:p>
          <a:p>
            <a:pPr marL="12700" marR="5080" indent="34925">
              <a:lnSpc>
                <a:spcPct val="152500"/>
              </a:lnSpc>
            </a:pPr>
            <a:r>
              <a:rPr dirty="0" sz="1200">
                <a:latin typeface="Calibri"/>
                <a:cs typeface="Calibri"/>
              </a:rPr>
              <a:t>Programming</a:t>
            </a:r>
            <a:r>
              <a:rPr dirty="0" sz="1200" spc="3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Language:</a:t>
            </a:r>
            <a:r>
              <a:rPr dirty="0" sz="1200" spc="3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Java</a:t>
            </a:r>
            <a:r>
              <a:rPr dirty="0" sz="1200" spc="3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3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Python</a:t>
            </a:r>
            <a:r>
              <a:rPr dirty="0" sz="1200" spc="3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3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3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Technologies</a:t>
            </a:r>
            <a:r>
              <a:rPr dirty="0" sz="1200" spc="3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Database:</a:t>
            </a:r>
            <a:r>
              <a:rPr dirty="0" sz="1200" spc="3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MySQL</a:t>
            </a:r>
            <a:r>
              <a:rPr dirty="0" sz="1200" spc="3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3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Oracle</a:t>
            </a:r>
            <a:r>
              <a:rPr dirty="0" sz="1200" spc="3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/ </a:t>
            </a:r>
            <a:r>
              <a:rPr dirty="0" sz="1200" spc="-10">
                <a:latin typeface="Calibri"/>
                <a:cs typeface="Calibri"/>
              </a:rPr>
              <a:t>PostgreSQL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200">
              <a:latin typeface="Calibri"/>
              <a:cs typeface="Calibri"/>
            </a:endParaRPr>
          </a:p>
          <a:p>
            <a:pPr marL="4762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IDE: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Eclipse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Intel</a:t>
            </a:r>
            <a:r>
              <a:rPr dirty="0" sz="1200" spc="-25">
                <a:latin typeface="Calibri"/>
                <a:cs typeface="Calibri"/>
              </a:rPr>
              <a:t> i7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860" y="4133215"/>
            <a:ext cx="5974080" cy="2912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20"/>
              </a:lnSpc>
            </a:pPr>
            <a:r>
              <a:rPr dirty="0" sz="1600" b="1">
                <a:solidFill>
                  <a:srgbClr val="2D74B5"/>
                </a:solidFill>
                <a:latin typeface="Calibri"/>
                <a:cs typeface="Calibri"/>
              </a:rPr>
              <a:t>3.</a:t>
            </a:r>
            <a:r>
              <a:rPr dirty="0" sz="1600" spc="-20" b="1">
                <a:solidFill>
                  <a:srgbClr val="2D74B5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D74B5"/>
                </a:solidFill>
                <a:latin typeface="Calibri"/>
                <a:cs typeface="Calibri"/>
              </a:rPr>
              <a:t>Fact</a:t>
            </a:r>
            <a:r>
              <a:rPr dirty="0" sz="1200" spc="-20" b="1">
                <a:solidFill>
                  <a:srgbClr val="2D74B5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D74B5"/>
                </a:solidFill>
                <a:latin typeface="Calibri"/>
                <a:cs typeface="Calibri"/>
              </a:rPr>
              <a:t>Finding</a:t>
            </a:r>
            <a:r>
              <a:rPr dirty="0" sz="1200" spc="-30" b="1">
                <a:solidFill>
                  <a:srgbClr val="2D74B5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D74B5"/>
                </a:solidFill>
                <a:latin typeface="Calibri"/>
                <a:cs typeface="Calibri"/>
              </a:rPr>
              <a:t>Techniques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200">
              <a:latin typeface="Calibri"/>
              <a:cs typeface="Calibri"/>
            </a:endParaRPr>
          </a:p>
          <a:p>
            <a:pPr marL="5651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Interviews: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Gathering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stakeholders.</a:t>
            </a:r>
            <a:endParaRPr sz="1200">
              <a:latin typeface="Calibri"/>
              <a:cs typeface="Calibri"/>
            </a:endParaRPr>
          </a:p>
          <a:p>
            <a:pPr marL="56515" marR="2964180">
              <a:lnSpc>
                <a:spcPct val="265000"/>
              </a:lnSpc>
            </a:pPr>
            <a:r>
              <a:rPr dirty="0" sz="1200" spc="-10">
                <a:latin typeface="Calibri"/>
                <a:cs typeface="Calibri"/>
              </a:rPr>
              <a:t>Questionnaires: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Collecting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structured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feedback. </a:t>
            </a:r>
            <a:r>
              <a:rPr dirty="0" sz="1200">
                <a:latin typeface="Calibri"/>
                <a:cs typeface="Calibri"/>
              </a:rPr>
              <a:t>Observation: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Monitoring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workflows.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200">
              <a:latin typeface="Calibri"/>
              <a:cs typeface="Calibri"/>
            </a:endParaRPr>
          </a:p>
          <a:p>
            <a:pPr marL="5651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Document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Review: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Analyzing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Dictionary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00">
              <a:latin typeface="Calibri"/>
              <a:cs typeface="Calibri"/>
            </a:endParaRPr>
          </a:p>
          <a:p>
            <a:pPr marL="21590" marR="5080" indent="34925">
              <a:lnSpc>
                <a:spcPct val="151700"/>
              </a:lnSpc>
            </a:pPr>
            <a:r>
              <a:rPr dirty="0" sz="1200">
                <a:latin typeface="Calibri"/>
                <a:cs typeface="Calibri"/>
              </a:rPr>
              <a:t>Defines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elements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system,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names,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types,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formats,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descriptions.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8084057"/>
            <a:ext cx="1676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--</a:t>
            </a:r>
            <a:r>
              <a:rPr dirty="0" sz="1200" spc="-50"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74522"/>
            <a:ext cx="99821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ER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318260"/>
            <a:ext cx="5943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1245464"/>
            <a:ext cx="1621155" cy="66294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400" b="1">
                <a:latin typeface="Times New Roman"/>
                <a:cs typeface="Times New Roman"/>
              </a:rPr>
              <a:t>UML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830"/>
              </a:spcBef>
            </a:pPr>
            <a:r>
              <a:rPr dirty="0" sz="1400" b="1">
                <a:latin typeface="Times New Roman"/>
                <a:cs typeface="Times New Roman"/>
              </a:rPr>
              <a:t>1.</a:t>
            </a:r>
            <a:r>
              <a:rPr dirty="0" sz="1400" spc="37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Class</a:t>
            </a:r>
            <a:r>
              <a:rPr dirty="0" sz="1400" spc="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095" y="2026920"/>
            <a:ext cx="5904904" cy="51617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9153" y="1519173"/>
            <a:ext cx="14217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2.Object</a:t>
            </a:r>
            <a:r>
              <a:rPr dirty="0" sz="1400" spc="114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2503932"/>
            <a:ext cx="5943600" cy="40157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9153" y="1479549"/>
            <a:ext cx="1619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3.Sequence</a:t>
            </a:r>
            <a:r>
              <a:rPr dirty="0" sz="1400" spc="1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2180" y="1957807"/>
            <a:ext cx="5783865" cy="54318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9153" y="1519173"/>
            <a:ext cx="15982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4.Use</a:t>
            </a:r>
            <a:r>
              <a:rPr dirty="0" sz="1400" spc="7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Case</a:t>
            </a:r>
            <a:r>
              <a:rPr dirty="0" sz="1400" spc="7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9012" y="2462926"/>
            <a:ext cx="5183237" cy="49220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1464310"/>
            <a:ext cx="13887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5.Activity</a:t>
            </a:r>
            <a:r>
              <a:rPr dirty="0" sz="1400" spc="-6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Diagram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43421" y="1912620"/>
            <a:ext cx="5915025" cy="5746750"/>
            <a:chOff x="943421" y="1912620"/>
            <a:chExt cx="5915025" cy="57467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3421" y="1912620"/>
              <a:ext cx="5914578" cy="574625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553967" y="7004304"/>
              <a:ext cx="317500" cy="309880"/>
            </a:xfrm>
            <a:custGeom>
              <a:avLst/>
              <a:gdLst/>
              <a:ahLst/>
              <a:cxnLst/>
              <a:rect l="l" t="t" r="r" b="b"/>
              <a:pathLst>
                <a:path w="317500" h="309879">
                  <a:moveTo>
                    <a:pt x="0" y="154686"/>
                  </a:moveTo>
                  <a:lnTo>
                    <a:pt x="8083" y="105777"/>
                  </a:lnTo>
                  <a:lnTo>
                    <a:pt x="30589" y="63313"/>
                  </a:lnTo>
                  <a:lnTo>
                    <a:pt x="64904" y="29833"/>
                  </a:lnTo>
                  <a:lnTo>
                    <a:pt x="108411" y="7882"/>
                  </a:lnTo>
                  <a:lnTo>
                    <a:pt x="158496" y="0"/>
                  </a:lnTo>
                  <a:lnTo>
                    <a:pt x="208580" y="7882"/>
                  </a:lnTo>
                  <a:lnTo>
                    <a:pt x="252087" y="29833"/>
                  </a:lnTo>
                  <a:lnTo>
                    <a:pt x="286402" y="63313"/>
                  </a:lnTo>
                  <a:lnTo>
                    <a:pt x="308908" y="105777"/>
                  </a:lnTo>
                  <a:lnTo>
                    <a:pt x="316992" y="154686"/>
                  </a:lnTo>
                  <a:lnTo>
                    <a:pt x="308908" y="203594"/>
                  </a:lnTo>
                  <a:lnTo>
                    <a:pt x="286402" y="246058"/>
                  </a:lnTo>
                  <a:lnTo>
                    <a:pt x="252087" y="279538"/>
                  </a:lnTo>
                  <a:lnTo>
                    <a:pt x="208580" y="301489"/>
                  </a:lnTo>
                  <a:lnTo>
                    <a:pt x="158496" y="309372"/>
                  </a:lnTo>
                  <a:lnTo>
                    <a:pt x="108411" y="301489"/>
                  </a:lnTo>
                  <a:lnTo>
                    <a:pt x="64904" y="279538"/>
                  </a:lnTo>
                  <a:lnTo>
                    <a:pt x="30589" y="246058"/>
                  </a:lnTo>
                  <a:lnTo>
                    <a:pt x="8083" y="203594"/>
                  </a:lnTo>
                  <a:lnTo>
                    <a:pt x="0" y="15468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1788922"/>
            <a:ext cx="17348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6.Collabration</a:t>
            </a:r>
            <a:r>
              <a:rPr dirty="0" sz="1400" spc="-6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Diagram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812" y="2424493"/>
            <a:ext cx="5926187" cy="538638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1357629"/>
            <a:ext cx="172275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Calibri"/>
                <a:cs typeface="Calibri"/>
              </a:rPr>
              <a:t>7</a:t>
            </a:r>
            <a:r>
              <a:rPr dirty="0" sz="2200" b="1">
                <a:latin typeface="Calibri"/>
                <a:cs typeface="Calibri"/>
              </a:rPr>
              <a:t>.</a:t>
            </a:r>
            <a:r>
              <a:rPr dirty="0" sz="1400" b="1">
                <a:latin typeface="Calibri"/>
                <a:cs typeface="Calibri"/>
              </a:rPr>
              <a:t>Component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Diagram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997964"/>
            <a:ext cx="5943600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1319530"/>
            <a:ext cx="173926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8.Deployment</a:t>
            </a:r>
            <a:r>
              <a:rPr dirty="0" sz="1400" spc="-7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Diagram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6571" y="1769364"/>
            <a:ext cx="5711428" cy="53341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89047" y="860806"/>
            <a:ext cx="21939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D74B5"/>
                </a:solidFill>
                <a:latin typeface="Times New Roman"/>
                <a:cs typeface="Times New Roman"/>
              </a:rPr>
              <a:t>Data</a:t>
            </a:r>
            <a:r>
              <a:rPr dirty="0" sz="2400" spc="180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2D74B5"/>
                </a:solidFill>
                <a:latin typeface="Times New Roman"/>
                <a:cs typeface="Times New Roman"/>
              </a:rPr>
              <a:t>Dictionary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14704" y="1769618"/>
          <a:ext cx="6021070" cy="2865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755"/>
                <a:gridCol w="1021080"/>
                <a:gridCol w="1130935"/>
                <a:gridCol w="363855"/>
                <a:gridCol w="1680845"/>
                <a:gridCol w="1597025"/>
                <a:gridCol w="71120"/>
              </a:tblGrid>
              <a:tr h="233045">
                <a:tc gridSpan="7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300">
                          <a:solidFill>
                            <a:srgbClr val="2D74B5"/>
                          </a:solidFill>
                          <a:latin typeface="Calibri Light"/>
                          <a:cs typeface="Calibri Light"/>
                        </a:rPr>
                        <a:t>1.</a:t>
                      </a:r>
                      <a:r>
                        <a:rPr dirty="0" sz="1300" spc="-35">
                          <a:solidFill>
                            <a:srgbClr val="2D74B5"/>
                          </a:solidFill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1300">
                          <a:solidFill>
                            <a:srgbClr val="2D74B5"/>
                          </a:solidFill>
                          <a:latin typeface="Calibri Light"/>
                          <a:cs typeface="Calibri Light"/>
                        </a:rPr>
                        <a:t>Table:</a:t>
                      </a:r>
                      <a:r>
                        <a:rPr dirty="0" sz="1300" spc="-25">
                          <a:solidFill>
                            <a:srgbClr val="2D74B5"/>
                          </a:solidFill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1300" spc="-20">
                          <a:solidFill>
                            <a:srgbClr val="2D74B5"/>
                          </a:solidFill>
                          <a:latin typeface="Calibri Light"/>
                          <a:cs typeface="Calibri Light"/>
                        </a:rPr>
                        <a:t>USERS</a:t>
                      </a:r>
                      <a:endParaRPr sz="1300">
                        <a:latin typeface="Calibri Light"/>
                        <a:cs typeface="Calibri Light"/>
                      </a:endParaRPr>
                    </a:p>
                  </a:txBody>
                  <a:tcPr marL="0" marR="0" marB="0" marT="190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3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Field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Name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72415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Type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Size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10540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Constraints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6090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user_id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PK,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Auto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Increment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60045">
                        <a:lnSpc>
                          <a:spcPts val="133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Unique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identifier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each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user.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username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Unique,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Not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Login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username.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password_hash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255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Encrypted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password.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role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ENUM('Citizen'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,'Officer','Admin')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User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authorization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level.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full_name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Full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user.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email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Unique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User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email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for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communication.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phone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Contact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phone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number.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address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TEXT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Optional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address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user.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created_at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DATETIME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Default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CURRENT_TIMESTAMP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account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was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registered.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 descr=""/>
          <p:cNvGrpSpPr/>
          <p:nvPr/>
        </p:nvGrpSpPr>
        <p:grpSpPr>
          <a:xfrm>
            <a:off x="914400" y="4763770"/>
            <a:ext cx="5944870" cy="20955"/>
            <a:chOff x="914400" y="4763770"/>
            <a:chExt cx="5944870" cy="20955"/>
          </a:xfrm>
        </p:grpSpPr>
        <p:sp>
          <p:nvSpPr>
            <p:cNvPr id="5" name="object 5" descr=""/>
            <p:cNvSpPr/>
            <p:nvPr/>
          </p:nvSpPr>
          <p:spPr>
            <a:xfrm>
              <a:off x="914400" y="4763769"/>
              <a:ext cx="5943600" cy="20320"/>
            </a:xfrm>
            <a:custGeom>
              <a:avLst/>
              <a:gdLst/>
              <a:ahLst/>
              <a:cxnLst/>
              <a:rect l="l" t="t" r="r" b="b"/>
              <a:pathLst>
                <a:path w="5943600" h="20320">
                  <a:moveTo>
                    <a:pt x="59436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5943600" y="20320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856221" y="476465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704" y="4764671"/>
              <a:ext cx="5944870" cy="17145"/>
            </a:xfrm>
            <a:custGeom>
              <a:avLst/>
              <a:gdLst/>
              <a:ahLst/>
              <a:cxnLst/>
              <a:rect l="l" t="t" r="r" b="b"/>
              <a:pathLst>
                <a:path w="59448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944870" h="1714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35"/>
                  </a:lnTo>
                  <a:lnTo>
                    <a:pt x="5944552" y="3035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856221" y="4767707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4704" y="478142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4704" y="4781435"/>
              <a:ext cx="5944870" cy="3175"/>
            </a:xfrm>
            <a:custGeom>
              <a:avLst/>
              <a:gdLst/>
              <a:ahLst/>
              <a:cxnLst/>
              <a:rect l="l" t="t" r="r" b="b"/>
              <a:pathLst>
                <a:path w="5944870" h="3175">
                  <a:moveTo>
                    <a:pt x="5941428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941428" y="3035"/>
                  </a:lnTo>
                  <a:lnTo>
                    <a:pt x="5941428" y="0"/>
                  </a:lnTo>
                  <a:close/>
                </a:path>
                <a:path w="5944870" h="317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35"/>
                  </a:lnTo>
                  <a:lnTo>
                    <a:pt x="5944552" y="3035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4334"/>
            <a:ext cx="113919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2.</a:t>
            </a:r>
            <a:r>
              <a:rPr dirty="0" sz="1300" spc="-3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Table:</a:t>
            </a:r>
            <a:r>
              <a:rPr dirty="0" sz="1300" spc="-2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 spc="-10">
                <a:solidFill>
                  <a:srgbClr val="2D74B5"/>
                </a:solidFill>
                <a:latin typeface="Calibri Light"/>
                <a:cs typeface="Calibri Light"/>
              </a:rPr>
              <a:t>CRIMES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14704" y="1132585"/>
          <a:ext cx="6021070" cy="6040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0470"/>
                <a:gridCol w="1991995"/>
                <a:gridCol w="359410"/>
                <a:gridCol w="1420495"/>
                <a:gridCol w="944879"/>
              </a:tblGrid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81305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Field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Name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Type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780" marR="93345" indent="-43180">
                        <a:lnSpc>
                          <a:spcPct val="10180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Siz </a:t>
                      </a:r>
                      <a:r>
                        <a:rPr dirty="0" sz="1100" spc="-50" b="1">
                          <a:latin typeface="Calibri"/>
                          <a:cs typeface="Calibri"/>
                        </a:rPr>
                        <a:t>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8036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Constraints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39700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crime_id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PK,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Auto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Increment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Unique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crime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identifier.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reporting_user_id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FK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USERS(user_id)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User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who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 marR="142240">
                        <a:lnSpc>
                          <a:spcPct val="100899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reported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crime.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67945" marR="112395">
                        <a:lnSpc>
                          <a:spcPts val="1330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assigned_officer_i 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12395">
                        <a:lnSpc>
                          <a:spcPts val="133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FK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USERS(user_id), Nullable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224790">
                        <a:lnSpc>
                          <a:spcPts val="1330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Officer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assigned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to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ts val="13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case.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67945">
                        <a:lnSpc>
                          <a:spcPts val="12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crime_type_id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8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8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8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FK 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→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CRIME_TYPES(type_id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Type/categor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y of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crime.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title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150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Short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 marR="188595">
                        <a:lnSpc>
                          <a:spcPct val="1018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summary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crime.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TEXT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Detailed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 marR="82550">
                        <a:lnSpc>
                          <a:spcPct val="1018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description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incident.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location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255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the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 marR="325755">
                        <a:lnSpc>
                          <a:spcPct val="1018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crime occurred.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status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ENUM('Reported','Under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Investigation','Resolved','Closed'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Default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'Reported'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Current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case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status.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report_date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DATETIME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Default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 marR="106680">
                        <a:lnSpc>
                          <a:spcPct val="1018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CURRENT_TIMESTAM 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crime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reported.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incident_date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DATETIME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Nullable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74625">
                        <a:lnSpc>
                          <a:spcPts val="133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crime actually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ts val="13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occurred.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evidence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TEXT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Nullable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Notes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about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 marR="250825">
                        <a:lnSpc>
                          <a:spcPct val="1018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evidence submitted.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 descr=""/>
          <p:cNvGrpSpPr/>
          <p:nvPr/>
        </p:nvGrpSpPr>
        <p:grpSpPr>
          <a:xfrm>
            <a:off x="914400" y="7299959"/>
            <a:ext cx="5944870" cy="20955"/>
            <a:chOff x="914400" y="7299959"/>
            <a:chExt cx="5944870" cy="20955"/>
          </a:xfrm>
        </p:grpSpPr>
        <p:sp>
          <p:nvSpPr>
            <p:cNvPr id="5" name="object 5" descr=""/>
            <p:cNvSpPr/>
            <p:nvPr/>
          </p:nvSpPr>
          <p:spPr>
            <a:xfrm>
              <a:off x="914400" y="7299959"/>
              <a:ext cx="5943600" cy="19685"/>
            </a:xfrm>
            <a:custGeom>
              <a:avLst/>
              <a:gdLst/>
              <a:ahLst/>
              <a:cxnLst/>
              <a:rect l="l" t="t" r="r" b="b"/>
              <a:pathLst>
                <a:path w="5943600" h="19684">
                  <a:moveTo>
                    <a:pt x="59436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943600" y="1968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856221" y="730084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704" y="7300861"/>
              <a:ext cx="5944870" cy="17145"/>
            </a:xfrm>
            <a:custGeom>
              <a:avLst/>
              <a:gdLst/>
              <a:ahLst/>
              <a:cxnLst/>
              <a:rect l="l" t="t" r="r" b="b"/>
              <a:pathLst>
                <a:path w="59448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944870" h="1714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35"/>
                  </a:lnTo>
                  <a:lnTo>
                    <a:pt x="5944552" y="3035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856221" y="730389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4704" y="731761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4704" y="7317625"/>
              <a:ext cx="5944870" cy="3175"/>
            </a:xfrm>
            <a:custGeom>
              <a:avLst/>
              <a:gdLst/>
              <a:ahLst/>
              <a:cxnLst/>
              <a:rect l="l" t="t" r="r" b="b"/>
              <a:pathLst>
                <a:path w="5944870" h="3175">
                  <a:moveTo>
                    <a:pt x="5941428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941428" y="3035"/>
                  </a:lnTo>
                  <a:lnTo>
                    <a:pt x="5941428" y="0"/>
                  </a:lnTo>
                  <a:close/>
                </a:path>
                <a:path w="5944870" h="317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35"/>
                  </a:lnTo>
                  <a:lnTo>
                    <a:pt x="5944552" y="3035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914704" y="2313685"/>
          <a:ext cx="6021070" cy="1713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15"/>
                <a:gridCol w="680085"/>
                <a:gridCol w="650875"/>
                <a:gridCol w="252094"/>
                <a:gridCol w="1149350"/>
                <a:gridCol w="1901189"/>
                <a:gridCol w="1212214"/>
              </a:tblGrid>
              <a:tr h="217804">
                <a:tc gridSpan="7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200">
                          <a:solidFill>
                            <a:srgbClr val="2D74B5"/>
                          </a:solidFill>
                          <a:latin typeface="Calibri Light"/>
                          <a:cs typeface="Calibri Light"/>
                        </a:rPr>
                        <a:t>3.</a:t>
                      </a:r>
                      <a:r>
                        <a:rPr dirty="0" sz="1200" spc="-5">
                          <a:solidFill>
                            <a:srgbClr val="2D74B5"/>
                          </a:solidFill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1200">
                          <a:solidFill>
                            <a:srgbClr val="2D74B5"/>
                          </a:solidFill>
                          <a:latin typeface="Calibri Light"/>
                          <a:cs typeface="Calibri Light"/>
                        </a:rPr>
                        <a:t>Table:</a:t>
                      </a:r>
                      <a:r>
                        <a:rPr dirty="0" sz="1200" spc="-5">
                          <a:solidFill>
                            <a:srgbClr val="2D74B5"/>
                          </a:solidFill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1200" spc="-10">
                          <a:solidFill>
                            <a:srgbClr val="2D74B5"/>
                          </a:solidFill>
                          <a:latin typeface="Calibri Light"/>
                          <a:cs typeface="Calibri Light"/>
                        </a:rPr>
                        <a:t>CRIME_TYPES</a:t>
                      </a:r>
                      <a:endParaRPr sz="1200">
                        <a:latin typeface="Calibri Light"/>
                        <a:cs typeface="Calibri Ligh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6530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956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Field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Name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Type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Size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Constraints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801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2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type_id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927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PK,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Auto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Increment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Unique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identifier.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type_name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Unique,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Not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e.g.,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Theft,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Robbery,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Assault.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29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TEXT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927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Nullable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Explanation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notes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about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type.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" name="object 3" descr=""/>
          <p:cNvGrpSpPr/>
          <p:nvPr/>
        </p:nvGrpSpPr>
        <p:grpSpPr>
          <a:xfrm>
            <a:off x="914400" y="4151629"/>
            <a:ext cx="5944870" cy="20320"/>
            <a:chOff x="914400" y="4151629"/>
            <a:chExt cx="5944870" cy="20320"/>
          </a:xfrm>
        </p:grpSpPr>
        <p:sp>
          <p:nvSpPr>
            <p:cNvPr id="4" name="object 4" descr=""/>
            <p:cNvSpPr/>
            <p:nvPr/>
          </p:nvSpPr>
          <p:spPr>
            <a:xfrm>
              <a:off x="914400" y="4151629"/>
              <a:ext cx="5943600" cy="19685"/>
            </a:xfrm>
            <a:custGeom>
              <a:avLst/>
              <a:gdLst/>
              <a:ahLst/>
              <a:cxnLst/>
              <a:rect l="l" t="t" r="r" b="b"/>
              <a:pathLst>
                <a:path w="5943600" h="19685">
                  <a:moveTo>
                    <a:pt x="59436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943600" y="1968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856221" y="415201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14704" y="4152023"/>
              <a:ext cx="5944870" cy="17145"/>
            </a:xfrm>
            <a:custGeom>
              <a:avLst/>
              <a:gdLst/>
              <a:ahLst/>
              <a:cxnLst/>
              <a:rect l="l" t="t" r="r" b="b"/>
              <a:pathLst>
                <a:path w="59448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944870" h="1714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35"/>
                  </a:lnTo>
                  <a:lnTo>
                    <a:pt x="5944552" y="3035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856221" y="415505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4704" y="416877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4704" y="4168787"/>
              <a:ext cx="5944870" cy="3175"/>
            </a:xfrm>
            <a:custGeom>
              <a:avLst/>
              <a:gdLst/>
              <a:ahLst/>
              <a:cxnLst/>
              <a:rect l="l" t="t" r="r" b="b"/>
              <a:pathLst>
                <a:path w="5944870" h="3175">
                  <a:moveTo>
                    <a:pt x="5941428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941428" y="3035"/>
                  </a:lnTo>
                  <a:lnTo>
                    <a:pt x="5941428" y="0"/>
                  </a:lnTo>
                  <a:close/>
                </a:path>
                <a:path w="5944870" h="317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35"/>
                  </a:lnTo>
                  <a:lnTo>
                    <a:pt x="5944552" y="3035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02004" y="4300854"/>
            <a:ext cx="1288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4.</a:t>
            </a:r>
            <a:r>
              <a:rPr dirty="0" sz="1300" spc="-3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Table:</a:t>
            </a:r>
            <a:r>
              <a:rPr dirty="0" sz="1300" spc="-2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 spc="-10">
                <a:solidFill>
                  <a:srgbClr val="2D74B5"/>
                </a:solidFill>
                <a:latin typeface="Calibri Light"/>
                <a:cs typeface="Calibri Light"/>
              </a:rPr>
              <a:t>SUSPECTS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937564" y="4557394"/>
          <a:ext cx="5975350" cy="3183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5005"/>
                <a:gridCol w="2132330"/>
                <a:gridCol w="283844"/>
                <a:gridCol w="1322705"/>
                <a:gridCol w="1477644"/>
              </a:tblGrid>
              <a:tr h="507365"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Field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Name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68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Type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965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Size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965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Constraints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965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965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suspect_id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PK,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Auto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Increment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Unique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suspect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ID.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crime_id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85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85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85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270510">
                        <a:lnSpc>
                          <a:spcPts val="145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FK 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CRIMES(crime_id)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Crime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linked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suspect.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85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full_name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suspect.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age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Nullable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Age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estimate.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gender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VARCHAR(10)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Nullable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Gender.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3715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946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TEXT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946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946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Nullable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946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description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or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notes.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status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ENUM('Wanted','Arrested','Cleared')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Default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'Wanted'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Suspect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case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status.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2" name="object 12" descr=""/>
          <p:cNvGrpSpPr/>
          <p:nvPr/>
        </p:nvGrpSpPr>
        <p:grpSpPr>
          <a:xfrm>
            <a:off x="914400" y="7885430"/>
            <a:ext cx="5944870" cy="20955"/>
            <a:chOff x="914400" y="7885430"/>
            <a:chExt cx="5944870" cy="20955"/>
          </a:xfrm>
        </p:grpSpPr>
        <p:sp>
          <p:nvSpPr>
            <p:cNvPr id="13" name="object 13" descr=""/>
            <p:cNvSpPr/>
            <p:nvPr/>
          </p:nvSpPr>
          <p:spPr>
            <a:xfrm>
              <a:off x="914400" y="7885430"/>
              <a:ext cx="5943600" cy="19685"/>
            </a:xfrm>
            <a:custGeom>
              <a:avLst/>
              <a:gdLst/>
              <a:ahLst/>
              <a:cxnLst/>
              <a:rect l="l" t="t" r="r" b="b"/>
              <a:pathLst>
                <a:path w="5943600" h="19684">
                  <a:moveTo>
                    <a:pt x="59436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943600" y="1968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856221" y="788644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14704" y="7886458"/>
              <a:ext cx="5944870" cy="17145"/>
            </a:xfrm>
            <a:custGeom>
              <a:avLst/>
              <a:gdLst/>
              <a:ahLst/>
              <a:cxnLst/>
              <a:rect l="l" t="t" r="r" b="b"/>
              <a:pathLst>
                <a:path w="59448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944870" h="1714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35"/>
                  </a:lnTo>
                  <a:lnTo>
                    <a:pt x="5944552" y="3035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856221" y="788949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14704" y="790321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14704" y="7903222"/>
              <a:ext cx="5944870" cy="3175"/>
            </a:xfrm>
            <a:custGeom>
              <a:avLst/>
              <a:gdLst/>
              <a:ahLst/>
              <a:cxnLst/>
              <a:rect l="l" t="t" r="r" b="b"/>
              <a:pathLst>
                <a:path w="5944870" h="3175">
                  <a:moveTo>
                    <a:pt x="5941428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941428" y="3035"/>
                  </a:lnTo>
                  <a:lnTo>
                    <a:pt x="5941428" y="0"/>
                  </a:lnTo>
                  <a:close/>
                </a:path>
                <a:path w="5944870" h="317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35"/>
                  </a:lnTo>
                  <a:lnTo>
                    <a:pt x="5944552" y="3035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1138174"/>
            <a:ext cx="11817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5.</a:t>
            </a:r>
            <a:r>
              <a:rPr dirty="0" sz="1300" spc="-3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Table:</a:t>
            </a:r>
            <a:r>
              <a:rPr dirty="0" sz="1300" spc="-2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 spc="-10">
                <a:solidFill>
                  <a:srgbClr val="2D74B5"/>
                </a:solidFill>
                <a:latin typeface="Calibri Light"/>
                <a:cs typeface="Calibri Light"/>
              </a:rPr>
              <a:t>VICTIMS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28420" y="1394713"/>
          <a:ext cx="5018405" cy="2922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315"/>
                <a:gridCol w="846455"/>
                <a:gridCol w="251459"/>
                <a:gridCol w="1390015"/>
                <a:gridCol w="1705610"/>
              </a:tblGrid>
              <a:tr h="33020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Field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Name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Type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Size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33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Constraints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victim_id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PK,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Auto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Increment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Unique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victim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ID.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crime_id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FK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CRIMES(crime_id)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Crime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associated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victim.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full_name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Victim’s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name.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age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Nullable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Age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victim.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gender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VARCHAR(10)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Nullable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Gender.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258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contact_info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Nullable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Optional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contact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details.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statement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TEXT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Nullable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Victim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statement.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4" name="object 4" descr=""/>
          <p:cNvGrpSpPr/>
          <p:nvPr/>
        </p:nvGrpSpPr>
        <p:grpSpPr>
          <a:xfrm>
            <a:off x="914400" y="4441190"/>
            <a:ext cx="5944870" cy="20320"/>
            <a:chOff x="914400" y="4441190"/>
            <a:chExt cx="5944870" cy="20320"/>
          </a:xfrm>
        </p:grpSpPr>
        <p:sp>
          <p:nvSpPr>
            <p:cNvPr id="5" name="object 5" descr=""/>
            <p:cNvSpPr/>
            <p:nvPr/>
          </p:nvSpPr>
          <p:spPr>
            <a:xfrm>
              <a:off x="914400" y="4441189"/>
              <a:ext cx="5943600" cy="19685"/>
            </a:xfrm>
            <a:custGeom>
              <a:avLst/>
              <a:gdLst/>
              <a:ahLst/>
              <a:cxnLst/>
              <a:rect l="l" t="t" r="r" b="b"/>
              <a:pathLst>
                <a:path w="5943600" h="19685">
                  <a:moveTo>
                    <a:pt x="59436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943600" y="1968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856221" y="444157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704" y="4441570"/>
              <a:ext cx="5944870" cy="17145"/>
            </a:xfrm>
            <a:custGeom>
              <a:avLst/>
              <a:gdLst/>
              <a:ahLst/>
              <a:cxnLst/>
              <a:rect l="l" t="t" r="r" b="b"/>
              <a:pathLst>
                <a:path w="594487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5944870" h="1714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48"/>
                  </a:lnTo>
                  <a:lnTo>
                    <a:pt x="5944552" y="3048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856221" y="444461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4704" y="445833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4704" y="4458347"/>
              <a:ext cx="5944870" cy="3175"/>
            </a:xfrm>
            <a:custGeom>
              <a:avLst/>
              <a:gdLst/>
              <a:ahLst/>
              <a:cxnLst/>
              <a:rect l="l" t="t" r="r" b="b"/>
              <a:pathLst>
                <a:path w="5944870" h="3175">
                  <a:moveTo>
                    <a:pt x="5941428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941428" y="3035"/>
                  </a:lnTo>
                  <a:lnTo>
                    <a:pt x="5941428" y="0"/>
                  </a:lnTo>
                  <a:close/>
                </a:path>
                <a:path w="5944870" h="317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35"/>
                  </a:lnTo>
                  <a:lnTo>
                    <a:pt x="5944552" y="3035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02004" y="4588891"/>
            <a:ext cx="12941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6.</a:t>
            </a:r>
            <a:r>
              <a:rPr dirty="0" sz="1300" spc="-3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Table:</a:t>
            </a:r>
            <a:r>
              <a:rPr dirty="0" sz="1300" spc="-2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 spc="-10">
                <a:solidFill>
                  <a:srgbClr val="2D74B5"/>
                </a:solidFill>
                <a:latin typeface="Calibri Light"/>
                <a:cs typeface="Calibri Light"/>
              </a:rPr>
              <a:t>EVIDENCE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937564" y="4846954"/>
          <a:ext cx="5852160" cy="2287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6300"/>
                <a:gridCol w="640715"/>
                <a:gridCol w="250190"/>
                <a:gridCol w="1802130"/>
                <a:gridCol w="2201544"/>
              </a:tblGrid>
              <a:tr h="330200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Field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Name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Type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Size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03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Constraints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7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evidence_id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PK,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Auto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Increment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Unique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evidence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ID.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crime_id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FK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CRIMES(crime_id)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Which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crime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this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evidence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belongs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to.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evidence_type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e.g.,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photo,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video,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document,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object.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file_path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255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Nullable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Storage location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digital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evidence.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TEXT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Nullable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Details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about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evidence.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uploaded_at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DATETIME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Default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CURRENT_TIMESTAMP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Timestamp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upload.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3" name="object 13" descr=""/>
          <p:cNvGrpSpPr/>
          <p:nvPr/>
        </p:nvGrpSpPr>
        <p:grpSpPr>
          <a:xfrm>
            <a:off x="914400" y="7280275"/>
            <a:ext cx="5944870" cy="20955"/>
            <a:chOff x="914400" y="7280275"/>
            <a:chExt cx="5944870" cy="20955"/>
          </a:xfrm>
        </p:grpSpPr>
        <p:sp>
          <p:nvSpPr>
            <p:cNvPr id="14" name="object 14" descr=""/>
            <p:cNvSpPr/>
            <p:nvPr/>
          </p:nvSpPr>
          <p:spPr>
            <a:xfrm>
              <a:off x="914400" y="7280274"/>
              <a:ext cx="5943600" cy="19685"/>
            </a:xfrm>
            <a:custGeom>
              <a:avLst/>
              <a:gdLst/>
              <a:ahLst/>
              <a:cxnLst/>
              <a:rect l="l" t="t" r="r" b="b"/>
              <a:pathLst>
                <a:path w="5943600" h="19684">
                  <a:moveTo>
                    <a:pt x="59436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943600" y="1968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856221" y="728103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14704" y="7281049"/>
              <a:ext cx="5944870" cy="17145"/>
            </a:xfrm>
            <a:custGeom>
              <a:avLst/>
              <a:gdLst/>
              <a:ahLst/>
              <a:cxnLst/>
              <a:rect l="l" t="t" r="r" b="b"/>
              <a:pathLst>
                <a:path w="59448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944870" h="1714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35"/>
                  </a:lnTo>
                  <a:lnTo>
                    <a:pt x="5944552" y="3035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856221" y="7284085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14704" y="729780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14704" y="7297813"/>
              <a:ext cx="5944870" cy="3175"/>
            </a:xfrm>
            <a:custGeom>
              <a:avLst/>
              <a:gdLst/>
              <a:ahLst/>
              <a:cxnLst/>
              <a:rect l="l" t="t" r="r" b="b"/>
              <a:pathLst>
                <a:path w="5944870" h="3175">
                  <a:moveTo>
                    <a:pt x="5941428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941428" y="3035"/>
                  </a:lnTo>
                  <a:lnTo>
                    <a:pt x="5941428" y="0"/>
                  </a:lnTo>
                  <a:close/>
                </a:path>
                <a:path w="5944870" h="317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35"/>
                  </a:lnTo>
                  <a:lnTo>
                    <a:pt x="5944552" y="3035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1866645"/>
            <a:ext cx="1663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7.</a:t>
            </a:r>
            <a:r>
              <a:rPr dirty="0" sz="1300" spc="-3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Table:</a:t>
            </a:r>
            <a:r>
              <a:rPr dirty="0" sz="1300" spc="-2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 spc="-10">
                <a:solidFill>
                  <a:srgbClr val="2D74B5"/>
                </a:solidFill>
                <a:latin typeface="Calibri Light"/>
                <a:cs typeface="Calibri Light"/>
              </a:rPr>
              <a:t>CASE_UPDATES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37564" y="2123185"/>
          <a:ext cx="5242560" cy="19583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4065"/>
                <a:gridCol w="618490"/>
                <a:gridCol w="271144"/>
                <a:gridCol w="1800860"/>
                <a:gridCol w="1692910"/>
              </a:tblGrid>
              <a:tr h="330200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Field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Name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Type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Size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03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Constraints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38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update_id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PK,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Auto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Increment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Unique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update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ID.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crime_id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FK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CRIMES(crime_id)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Case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associated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update.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officer_id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FK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USERS(user_id)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Officer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who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added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update.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update_text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TEXT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Description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progress.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update_date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DATETIME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Default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CURRENT_TIMESTAMP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update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posted.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 descr=""/>
          <p:cNvGrpSpPr/>
          <p:nvPr/>
        </p:nvGrpSpPr>
        <p:grpSpPr>
          <a:xfrm>
            <a:off x="914400" y="4225925"/>
            <a:ext cx="5944870" cy="20955"/>
            <a:chOff x="914400" y="4225925"/>
            <a:chExt cx="5944870" cy="20955"/>
          </a:xfrm>
        </p:grpSpPr>
        <p:sp>
          <p:nvSpPr>
            <p:cNvPr id="5" name="object 5" descr=""/>
            <p:cNvSpPr/>
            <p:nvPr/>
          </p:nvSpPr>
          <p:spPr>
            <a:xfrm>
              <a:off x="914400" y="4225924"/>
              <a:ext cx="5943600" cy="19685"/>
            </a:xfrm>
            <a:custGeom>
              <a:avLst/>
              <a:gdLst/>
              <a:ahLst/>
              <a:cxnLst/>
              <a:rect l="l" t="t" r="r" b="b"/>
              <a:pathLst>
                <a:path w="5943600" h="19685">
                  <a:moveTo>
                    <a:pt x="59436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943600" y="1968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856221" y="422668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704" y="4226699"/>
              <a:ext cx="5944870" cy="17145"/>
            </a:xfrm>
            <a:custGeom>
              <a:avLst/>
              <a:gdLst/>
              <a:ahLst/>
              <a:cxnLst/>
              <a:rect l="l" t="t" r="r" b="b"/>
              <a:pathLst>
                <a:path w="59448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944870" h="1714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35"/>
                  </a:lnTo>
                  <a:lnTo>
                    <a:pt x="5944552" y="3035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856221" y="4229735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4704" y="424345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4704" y="4243450"/>
              <a:ext cx="5944870" cy="3175"/>
            </a:xfrm>
            <a:custGeom>
              <a:avLst/>
              <a:gdLst/>
              <a:ahLst/>
              <a:cxnLst/>
              <a:rect l="l" t="t" r="r" b="b"/>
              <a:pathLst>
                <a:path w="5944870" h="3175">
                  <a:moveTo>
                    <a:pt x="5941428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941428" y="3048"/>
                  </a:lnTo>
                  <a:lnTo>
                    <a:pt x="5941428" y="0"/>
                  </a:lnTo>
                  <a:close/>
                </a:path>
                <a:path w="5944870" h="3175">
                  <a:moveTo>
                    <a:pt x="5944552" y="0"/>
                  </a:moveTo>
                  <a:lnTo>
                    <a:pt x="5941517" y="0"/>
                  </a:lnTo>
                  <a:lnTo>
                    <a:pt x="5941517" y="3048"/>
                  </a:lnTo>
                  <a:lnTo>
                    <a:pt x="5944552" y="3048"/>
                  </a:lnTo>
                  <a:lnTo>
                    <a:pt x="5944552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02004" y="4861686"/>
            <a:ext cx="222504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8.</a:t>
            </a:r>
            <a:r>
              <a:rPr dirty="0" sz="1300" spc="-5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Table:</a:t>
            </a:r>
            <a:r>
              <a:rPr dirty="0" sz="1300" spc="-3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FIR_RECORDS</a:t>
            </a:r>
            <a:r>
              <a:rPr dirty="0" sz="1300" spc="-3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 spc="-10">
                <a:solidFill>
                  <a:srgbClr val="2D74B5"/>
                </a:solidFill>
                <a:latin typeface="Calibri Light"/>
                <a:cs typeface="Calibri Light"/>
              </a:rPr>
              <a:t>(optional)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937564" y="5118226"/>
          <a:ext cx="4777105" cy="2288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1080"/>
                <a:gridCol w="638809"/>
                <a:gridCol w="290830"/>
                <a:gridCol w="1390015"/>
                <a:gridCol w="1353185"/>
              </a:tblGrid>
              <a:tr h="33083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Field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Name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Type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Size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30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Constraints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417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fir_id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PK,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Auto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Increment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FIR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ID.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crime_id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FK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CRIMES(crime_id)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Crime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related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FIR.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fir_number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VARCHAR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Unique,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Not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Official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FIR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number.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filing_date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DATETIME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FIR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filing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date.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officer_in_charge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FK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USERS(user_id)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Officer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charge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FIR.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remarks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TEXT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Nullable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Notes.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2695701"/>
            <a:ext cx="3811904" cy="2748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03045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Advantages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and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Disadvantages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solidFill>
                  <a:srgbClr val="FF0000"/>
                </a:solidFill>
                <a:latin typeface="Calibri"/>
                <a:cs typeface="Calibri"/>
              </a:rPr>
              <a:t>Advantages:</a:t>
            </a:r>
            <a:endParaRPr sz="1400">
              <a:latin typeface="Calibri"/>
              <a:cs typeface="Calibri"/>
            </a:endParaRPr>
          </a:p>
          <a:p>
            <a:pPr marL="12700" marR="1943735">
              <a:lnSpc>
                <a:spcPct val="226700"/>
              </a:lnSpc>
              <a:spcBef>
                <a:spcPts val="1050"/>
              </a:spcBef>
            </a:pPr>
            <a:r>
              <a:rPr dirty="0" sz="1200">
                <a:latin typeface="Calibri"/>
                <a:cs typeface="Calibri"/>
              </a:rPr>
              <a:t>Improved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accuracy </a:t>
            </a:r>
            <a:r>
              <a:rPr dirty="0" sz="1200">
                <a:latin typeface="Calibri"/>
                <a:cs typeface="Calibri"/>
              </a:rPr>
              <a:t>Automated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processes</a:t>
            </a:r>
            <a:endParaRPr sz="1200">
              <a:latin typeface="Calibri"/>
              <a:cs typeface="Calibri"/>
            </a:endParaRPr>
          </a:p>
          <a:p>
            <a:pPr marL="12700" marR="2075180">
              <a:lnSpc>
                <a:spcPct val="225999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User-</a:t>
            </a:r>
            <a:r>
              <a:rPr dirty="0" sz="1200">
                <a:latin typeface="Calibri"/>
                <a:cs typeface="Calibri"/>
              </a:rPr>
              <a:t>friendly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operations </a:t>
            </a:r>
            <a:r>
              <a:rPr dirty="0" sz="1200">
                <a:latin typeface="Calibri"/>
                <a:cs typeface="Calibri"/>
              </a:rPr>
              <a:t>High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scalability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security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6364604"/>
            <a:ext cx="2186940" cy="1492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4471C4"/>
                </a:solidFill>
                <a:latin typeface="Calibri"/>
                <a:cs typeface="Calibri"/>
              </a:rPr>
              <a:t>DISADVANTAGES: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200">
              <a:latin typeface="Calibri"/>
              <a:cs typeface="Calibri"/>
            </a:endParaRPr>
          </a:p>
          <a:p>
            <a:pPr marL="12700" marR="220345">
              <a:lnSpc>
                <a:spcPct val="177700"/>
              </a:lnSpc>
            </a:pPr>
            <a:r>
              <a:rPr dirty="0" sz="1200">
                <a:latin typeface="Calibri"/>
                <a:cs typeface="Calibri"/>
              </a:rPr>
              <a:t>Initial </a:t>
            </a:r>
            <a:r>
              <a:rPr dirty="0" sz="1200" spc="-10">
                <a:latin typeface="Calibri"/>
                <a:cs typeface="Calibri"/>
              </a:rPr>
              <a:t>development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cost </a:t>
            </a:r>
            <a:r>
              <a:rPr dirty="0" sz="1200">
                <a:latin typeface="Calibri"/>
                <a:cs typeface="Calibri"/>
              </a:rPr>
              <a:t>Training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required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dependency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technology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8891727"/>
            <a:ext cx="1536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libri"/>
                <a:cs typeface="Calibri"/>
              </a:rPr>
              <a:t>--</a:t>
            </a:r>
            <a:r>
              <a:rPr dirty="0" sz="1100" spc="-60">
                <a:latin typeface="Calibri"/>
                <a:cs typeface="Calibri"/>
              </a:rPr>
              <a:t>-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8100" y="1369822"/>
            <a:ext cx="15684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EC7C30"/>
                </a:solidFill>
                <a:latin typeface="Calibri"/>
                <a:cs typeface="Calibri"/>
              </a:rPr>
              <a:t>Future</a:t>
            </a:r>
            <a:r>
              <a:rPr dirty="0" sz="1400" spc="-25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EC7C30"/>
                </a:solidFill>
                <a:latin typeface="Calibri"/>
                <a:cs typeface="Calibri"/>
              </a:rPr>
              <a:t>Enhancement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3192906"/>
            <a:ext cx="2370455" cy="1115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Integration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mobile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applications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650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AI-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analytics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reporting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real-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0">
                <a:latin typeface="Calibri"/>
                <a:cs typeface="Calibri"/>
              </a:rPr>
              <a:t> sync </a:t>
            </a:r>
            <a:r>
              <a:rPr dirty="0" sz="1200" spc="-10">
                <a:latin typeface="Calibri"/>
                <a:cs typeface="Calibri"/>
              </a:rPr>
              <a:t>Multi-</a:t>
            </a:r>
            <a:r>
              <a:rPr dirty="0" sz="1200">
                <a:latin typeface="Calibri"/>
                <a:cs typeface="Calibri"/>
              </a:rPr>
              <a:t>language </a:t>
            </a:r>
            <a:r>
              <a:rPr dirty="0" sz="1200" spc="-10">
                <a:latin typeface="Calibri"/>
                <a:cs typeface="Calibri"/>
              </a:rPr>
              <a:t>support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71798" y="892810"/>
            <a:ext cx="8305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0AFEF"/>
                </a:solidFill>
                <a:latin typeface="Calibri"/>
                <a:cs typeface="Calibri"/>
              </a:rPr>
              <a:t>Conclusion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2322321"/>
            <a:ext cx="5969000" cy="861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52200"/>
              </a:lnSpc>
              <a:spcBef>
                <a:spcPts val="105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robust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solution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overcome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limitations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process.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With </a:t>
            </a:r>
            <a:r>
              <a:rPr dirty="0" sz="1200">
                <a:latin typeface="Calibri"/>
                <a:cs typeface="Calibri"/>
              </a:rPr>
              <a:t>enhanced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features,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scalability,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user-</a:t>
            </a:r>
            <a:r>
              <a:rPr dirty="0" sz="1200">
                <a:latin typeface="Calibri"/>
                <a:cs typeface="Calibri"/>
              </a:rPr>
              <a:t>friendly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design,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delivers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significant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improvements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performance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reliability.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55034" y="1147318"/>
            <a:ext cx="8636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EC7C30"/>
                </a:solidFill>
                <a:latin typeface="Calibri"/>
                <a:cs typeface="Calibri"/>
              </a:rPr>
              <a:t>Biliography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2499106"/>
            <a:ext cx="2640965" cy="1350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Software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Engineering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Roger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Pressman</a:t>
            </a:r>
            <a:endParaRPr sz="1200">
              <a:latin typeface="Calibri"/>
              <a:cs typeface="Calibri"/>
            </a:endParaRPr>
          </a:p>
          <a:p>
            <a:pPr marL="12700" marR="370205">
              <a:lnSpc>
                <a:spcPct val="208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UML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Distilled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Martin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Fowler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Online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technical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documentation Research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papers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</dc:creator>
  <dcterms:created xsi:type="dcterms:W3CDTF">2025-11-21T04:53:57Z</dcterms:created>
  <dcterms:modified xsi:type="dcterms:W3CDTF">2025-11-21T04:53:57Z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2025-11-19T00:00:00Z</vt:filetime>
  </property>
  <property fmtid="{D5CDD505-2E9C-101B-9397-08002B2CF9AE}" pid="3" name="Creator">
    <vt:lpwstr>Microsoft® Word 2013</vt:lpwstr>
  </property>
  <property fmtid="{D5CDD505-2E9C-101B-9397-08002B2CF9AE}" pid="4" name="LastSaved">
    <vt:filetime>2025-11-21T00:00:00Z</vt:filetime>
  </property>
  <property fmtid="{D5CDD505-2E9C-101B-9397-08002B2CF9AE}" pid="5" name="Producer">
    <vt:lpwstr>Microsoft® Word 2013</vt:lpwstr>
  </property>
</Properties>
</file>